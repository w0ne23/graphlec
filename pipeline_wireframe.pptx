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8952" y="75895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80">
                <a:solidFill>
                  <a:srgbClr val="0066CC"/>
                </a:solidFill>
                <a:latin typeface="SF Pro Display"/>
              </a:rPr>
              <a:t>LECTURE QUALITY ASSURANCE · TECHNICAL DECK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3840480"/>
            <a:ext cx="1673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spc="-32">
                <a:solidFill>
                  <a:srgbClr val="1D1D1F"/>
                </a:solidFill>
                <a:latin typeface="SF Pro Display"/>
              </a:rPr>
              <a:t>Lecture Claim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4846320"/>
            <a:ext cx="1673352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400" b="1" spc="-32">
                <a:solidFill>
                  <a:srgbClr val="1D1D1F"/>
                </a:solidFill>
                <a:latin typeface="SF Pro Display"/>
              </a:rPr>
              <a:t>Verification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6126480"/>
            <a:ext cx="16733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 spc="-15">
                <a:solidFill>
                  <a:srgbClr val="1D1D1F"/>
                </a:solidFill>
                <a:latin typeface="SF Pro Display"/>
              </a:rPr>
              <a:t>강의 발화에서 검증 가능한 사실 주장을 추출하고, 3단계 게이트를 거쳐 교수에게 전달할 후보를 선별합니다.</a:t>
            </a:r>
          </a:p>
        </p:txBody>
      </p:sp>
      <p:sp>
        <p:nvSpPr>
          <p:cNvPr id="6" name="Right Arrow 5"/>
          <p:cNvSpPr/>
          <p:nvPr/>
        </p:nvSpPr>
        <p:spPr>
          <a:xfrm>
            <a:off x="758952" y="8046720"/>
            <a:ext cx="109728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80010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spc="80">
                <a:solidFill>
                  <a:srgbClr val="0066CC"/>
                </a:solidFill>
                <a:latin typeface="SF Pro Display"/>
              </a:rPr>
              <a:t>Extract  →  Judge  →  Crosscheck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9692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A7A"/>
                </a:solidFill>
                <a:latin typeface="SF Pro Display"/>
              </a:rPr>
              <a:t>Lecture Claim Verifier · Cover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0" y="9692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7A7A7A"/>
                </a:solidFill>
                <a:latin typeface="SF Pro Display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" y="758952"/>
            <a:ext cx="1243584" cy="292608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36576" bIns="36576"/>
          <a:lstStyle/>
          <a:p>
            <a:pPr algn="ctr"/>
            <a:r>
              <a:rPr sz="1300" b="1" spc="80">
                <a:solidFill>
                  <a:srgbClr val="FFFFFF"/>
                </a:solidFill>
                <a:latin typeface="SF Pro Display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58952" y="1554480"/>
            <a:ext cx="1673352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spc="-30">
                <a:solidFill>
                  <a:srgbClr val="1D1D1F"/>
                </a:solidFill>
                <a:latin typeface="SF Pro Display"/>
              </a:rPr>
              <a:t>3단계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58952" y="2606040"/>
            <a:ext cx="16733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 spc="-15">
                <a:solidFill>
                  <a:srgbClr val="1D1D1F"/>
                </a:solidFill>
                <a:latin typeface="SF Pro Display"/>
              </a:rPr>
              <a:t>각 단계는 독립적으로 동작하며, 점점 더 엄격한 필터로 후보를 좁혀갑니다.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4114800"/>
            <a:ext cx="5029200" cy="411480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86968" y="4498848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7A7A7A"/>
                </a:solidFill>
                <a:latin typeface="SF Pro Display"/>
              </a:rPr>
              <a:t>STAGE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864608"/>
            <a:ext cx="4261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spc="-30">
                <a:solidFill>
                  <a:srgbClr val="1D1D1F"/>
                </a:solidFill>
                <a:latin typeface="SF Pro Display"/>
              </a:rPr>
              <a:t>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5641848"/>
            <a:ext cx="426110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D1D1F"/>
                </a:solidFill>
                <a:latin typeface="SF Pro Display"/>
              </a:rPr>
              <a:t>강의 발화에서 검증 가능한 
사실 주장(claim)의 raw inventory를 추출합니다.
• definition / numeric / causal
• relationship / currentness
• 인접 조각 발화 자동 병합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06440" y="6035040"/>
            <a:ext cx="54864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4114800"/>
            <a:ext cx="5029200" cy="4114800"/>
          </a:xfrm>
          <a:prstGeom prst="roundRect">
            <a:avLst>
              <a:gd name="adj" fmla="val 8000"/>
            </a:avLst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13448" y="4498848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CCE0F5"/>
                </a:solidFill>
                <a:latin typeface="SF Pro Display"/>
              </a:rPr>
              <a:t>STAGE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13448" y="4864608"/>
            <a:ext cx="4261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spc="-30">
                <a:solidFill>
                  <a:srgbClr val="FFFFFF"/>
                </a:solidFill>
                <a:latin typeface="SF Pro Display"/>
              </a:rPr>
              <a:t>Judge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13448" y="5641848"/>
            <a:ext cx="426110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SF Pro Display"/>
              </a:rPr>
              <a:t>추출된 claim을 LLM으로 판정하여 
이슈 후보만 좁혀냅니다.
• 3-Gate 보수적 선별
• 4가지 issue type
• confidence ≥ 0.80 임계값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11932920" y="6035040"/>
            <a:ext cx="548640" cy="274320"/>
          </a:xfrm>
          <a:prstGeom prst="rightArrow">
            <a:avLst/>
          </a:prstGeom>
          <a:solidFill>
            <a:srgbClr val="0066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2755880" y="4114800"/>
            <a:ext cx="5029200" cy="4114800"/>
          </a:xfrm>
          <a:prstGeom prst="roundRect">
            <a:avLst>
              <a:gd name="adj" fmla="val 8000"/>
            </a:avLst>
          </a:prstGeom>
          <a:solidFill>
            <a:srgbClr val="FAFAFC"/>
          </a:solidFill>
          <a:ln w="1270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139928" y="4498848"/>
            <a:ext cx="426110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spc="120">
                <a:solidFill>
                  <a:srgbClr val="7A7A7A"/>
                </a:solidFill>
                <a:latin typeface="SF Pro Display"/>
              </a:rPr>
              <a:t>STAGE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139928" y="4864608"/>
            <a:ext cx="426110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spc="-30">
                <a:solidFill>
                  <a:srgbClr val="1D1D1F"/>
                </a:solidFill>
                <a:latin typeface="SF Pro Display"/>
              </a:rPr>
              <a:t>Crosscheck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139928" y="5641848"/>
            <a:ext cx="426110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1D1D1F"/>
                </a:solidFill>
                <a:latin typeface="SF Pro Display"/>
              </a:rPr>
              <a:t>5개 채점 기준으로 독립 재평가하여 
최종 verdict를 결정합니다.
• Criteria-based scoring
• 3개 cap gate 적용
• Reject / Review / Confirmed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" y="8595360"/>
            <a:ext cx="1673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 spc="20">
                <a:solidFill>
                  <a:srgbClr val="7A7A7A"/>
                </a:solidFill>
                <a:latin typeface="SF Pro Display"/>
              </a:rPr>
              <a:t>최종 출력: 기각 (0.00–0.44)  ·  교수 확인 (0.45–0.79)  ·  확정 (0.80–1.00)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" y="96926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7A7A7A"/>
                </a:solidFill>
                <a:latin typeface="SF Pro Display"/>
              </a:rPr>
              <a:t>Lecture Claim Verifier ·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0" y="969264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100" b="0">
                <a:solidFill>
                  <a:srgbClr val="7A7A7A"/>
                </a:solidFill>
                <a:latin typeface="SF Pro Display"/>
              </a:rPr>
              <a:t>3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